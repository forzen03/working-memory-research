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64" r:id="rId5"/>
    <p:sldId id="259" r:id="rId6"/>
    <p:sldId id="260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9CCD"/>
    <a:srgbClr val="E97132"/>
    <a:srgbClr val="C1D4DA"/>
    <a:srgbClr val="CCE1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951C7-5E4F-4A54-9D81-7B78AB8D18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42945-5205-47B5-9007-01A6B98ECAA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7303" y="2313782"/>
            <a:ext cx="5561938" cy="1687914"/>
          </a:xfrm>
          <a:effectLst>
            <a:outerShdw blurRad="50800" dist="25400" dir="5400000" algn="ctr" rotWithShape="0">
              <a:srgbClr val="1A9CCD"/>
            </a:outerShdw>
          </a:effectLst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E97132"/>
                </a:solidFill>
                <a:latin typeface="Bahnschrift SemiBold Condensed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Limited Working Memory Capacity </a:t>
            </a:r>
            <a:endParaRPr lang="en-US" sz="4800" dirty="0">
              <a:solidFill>
                <a:srgbClr val="E97132"/>
              </a:solidFill>
              <a:latin typeface="Bahnschrift SemiBold Condensed" panose="020B0502040204020203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7303" y="4440079"/>
            <a:ext cx="5561938" cy="1534587"/>
          </a:xfrm>
          <a:effectLst>
            <a:outerShdw blurRad="50800" dist="38100" dir="5400000" algn="t" rotWithShape="0">
              <a:srgbClr val="1A9CCD">
                <a:alpha val="40000"/>
              </a:srgbClr>
            </a:outerShdw>
          </a:effectLst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E97132"/>
                </a:solidFill>
                <a:latin typeface="Bahnschrift SemiBold Condensed" panose="020B0502040204020203" pitchFamily="34" charset="0"/>
              </a:rPr>
              <a:t>Student: </a:t>
            </a:r>
            <a:endParaRPr lang="tr-TR" dirty="0">
              <a:solidFill>
                <a:srgbClr val="E97132"/>
              </a:solidFill>
              <a:latin typeface="Bahnschrift SemiBold Condensed" panose="020B0502040204020203" pitchFamily="34" charset="0"/>
            </a:endParaRPr>
          </a:p>
          <a:p>
            <a:r>
              <a:rPr lang="en-GB" b="1" dirty="0">
                <a:solidFill>
                  <a:srgbClr val="E97132"/>
                </a:solidFill>
                <a:latin typeface="Bahnschrift SemiBold Condensed" panose="020B0502040204020203" pitchFamily="34" charset="0"/>
              </a:rPr>
              <a:t>Nour </a:t>
            </a:r>
            <a:r>
              <a:rPr lang="en-GB" b="1" dirty="0" err="1">
                <a:solidFill>
                  <a:srgbClr val="E97132"/>
                </a:solidFill>
                <a:latin typeface="Bahnschrift SemiBold Condensed" panose="020B0502040204020203" pitchFamily="34" charset="0"/>
              </a:rPr>
              <a:t>Elddin</a:t>
            </a:r>
            <a:r>
              <a:rPr lang="en-GB" b="1" dirty="0">
                <a:solidFill>
                  <a:srgbClr val="E97132"/>
                </a:solidFill>
                <a:latin typeface="Bahnschrift SemiBold Condensed" panose="020B0502040204020203" pitchFamily="34" charset="0"/>
              </a:rPr>
              <a:t> Naser Mahmoud Jaradat</a:t>
            </a:r>
            <a:endParaRPr lang="tr-TR" b="1" dirty="0">
              <a:solidFill>
                <a:srgbClr val="E97132"/>
              </a:solidFill>
              <a:latin typeface="Bahnschrift SemiBold Condensed" panose="020B0502040204020203" pitchFamily="34" charset="0"/>
            </a:endParaRPr>
          </a:p>
          <a:p>
            <a:r>
              <a:rPr lang="en-US" dirty="0">
                <a:solidFill>
                  <a:srgbClr val="E97132"/>
                </a:solidFill>
                <a:latin typeface="Bahnschrift SemiBold Condensed" panose="020B0502040204020203" pitchFamily="34" charset="0"/>
              </a:rPr>
              <a:t>ID : </a:t>
            </a:r>
            <a:endParaRPr lang="tr-TR" dirty="0">
              <a:solidFill>
                <a:srgbClr val="E97132"/>
              </a:solidFill>
              <a:latin typeface="Bahnschrift SemiBold Condensed" panose="020B0502040204020203" pitchFamily="34" charset="0"/>
            </a:endParaRPr>
          </a:p>
          <a:p>
            <a:r>
              <a:rPr lang="en-US" dirty="0">
                <a:solidFill>
                  <a:srgbClr val="E97132"/>
                </a:solidFill>
                <a:latin typeface="Bahnschrift SemiBold Condensed" panose="020B0502040204020203" pitchFamily="34" charset="0"/>
              </a:rPr>
              <a:t>202312575</a:t>
            </a:r>
            <a:endParaRPr lang="en-US" dirty="0">
              <a:solidFill>
                <a:srgbClr val="E97132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50" name="Arc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10"/>
          <p:cNvSpPr txBox="1"/>
          <p:nvPr/>
        </p:nvSpPr>
        <p:spPr>
          <a:xfrm>
            <a:off x="3650672" y="1631165"/>
            <a:ext cx="4775200" cy="244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5"/>
              </a:lnSpc>
            </a:pPr>
            <a:r>
              <a:rPr lang="en-US" sz="1600" dirty="0">
                <a:solidFill>
                  <a:srgbClr val="E97132"/>
                </a:solidFill>
                <a:latin typeface="Bahnschrift SemiBold Condensed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Human Computer Interaction (HCI) Project</a:t>
            </a:r>
            <a:endParaRPr lang="en-US" sz="1465" dirty="0">
              <a:solidFill>
                <a:srgbClr val="233968"/>
              </a:solidFill>
              <a:latin typeface="Bahnschrift SemiBold Condensed" panose="020B0502040204020203" pitchFamily="34" charset="0"/>
              <a:ea typeface="Glacial Indifference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6" name="TextBox 10"/>
          <p:cNvSpPr txBox="1"/>
          <p:nvPr/>
        </p:nvSpPr>
        <p:spPr>
          <a:xfrm>
            <a:off x="4793672" y="6413049"/>
            <a:ext cx="2489200" cy="24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5"/>
              </a:lnSpc>
            </a:pPr>
            <a:r>
              <a:rPr lang="tr-TR" sz="1465" dirty="0">
                <a:solidFill>
                  <a:srgbClr val="E97132"/>
                </a:solidFill>
                <a:latin typeface="Bahnschrift SemiBold Condensed" panose="020B0502040204020203" pitchFamily="34" charset="0"/>
                <a:ea typeface="Glacial Indifference"/>
                <a:cs typeface="Calibri" panose="020F0502020204030204" pitchFamily="34" charset="0"/>
                <a:sym typeface="Glacial Indifference"/>
              </a:rPr>
              <a:t>13 JAN 2026</a:t>
            </a:r>
            <a:endParaRPr lang="en-US" sz="1465" dirty="0">
              <a:solidFill>
                <a:srgbClr val="E97132"/>
              </a:solidFill>
              <a:latin typeface="Bahnschrift SemiBold Condensed" panose="020B0502040204020203" pitchFamily="34" charset="0"/>
              <a:ea typeface="Glacial Indifference"/>
              <a:cs typeface="Calibri" panose="020F0502020204030204" pitchFamily="34" charset="0"/>
              <a:sym typeface="Glacial Indifference"/>
            </a:endParaRPr>
          </a:p>
        </p:txBody>
      </p:sp>
      <p:pic>
        <p:nvPicPr>
          <p:cNvPr id="1026" name="Picture 2" descr="كلية العلوم وتكنولوجيا المعلومات – جامعة الزيتونة الأردنية – ادرس بالأردن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962" y="148929"/>
            <a:ext cx="1036621" cy="1043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940" y="1397000"/>
            <a:ext cx="3972560" cy="40646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Human Characteristic </a:t>
            </a:r>
            <a:b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</a:br>
            <a: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Limited Working Memory</a:t>
            </a:r>
            <a:endParaRPr lang="en-US" dirty="0">
              <a:solidFill>
                <a:srgbClr val="FFFFFF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0" name="Arc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Miller's Law: 7 ± 2 items Humans can hold approximately 7 things in working memory at once.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Design Strategy: Chunking Breaking information into meaningful groups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Example: Phone Number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❌ 0798363546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✅ 0798 363 546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phic 3" descr="Head with Gears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35619" y="3882841"/>
            <a:ext cx="2906973" cy="2906973"/>
          </a:xfrm>
          <a:prstGeom prst="rect">
            <a:avLst/>
          </a:prstGeom>
        </p:spPr>
      </p:pic>
      <p:sp>
        <p:nvSpPr>
          <p:cNvPr id="5" name="TextBox 10"/>
          <p:cNvSpPr txBox="1"/>
          <p:nvPr/>
        </p:nvSpPr>
        <p:spPr>
          <a:xfrm>
            <a:off x="11212944" y="6591567"/>
            <a:ext cx="938205" cy="24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5"/>
              </a:lnSpc>
            </a:pPr>
            <a:r>
              <a:rPr lang="tr-TR" sz="1465" dirty="0">
                <a:solidFill>
                  <a:srgbClr val="E97132"/>
                </a:solidFill>
                <a:latin typeface="Bahnschrift SemiBold Condensed" panose="020B0502040204020203" pitchFamily="34" charset="0"/>
                <a:ea typeface="Glacial Indifference"/>
                <a:cs typeface="Calibri" panose="020F0502020204030204" pitchFamily="34" charset="0"/>
                <a:sym typeface="Glacial Indifference"/>
              </a:rPr>
              <a:t>13 JAN 2026</a:t>
            </a:r>
            <a:endParaRPr lang="en-US" sz="1465" dirty="0">
              <a:solidFill>
                <a:srgbClr val="E97132"/>
              </a:solidFill>
              <a:latin typeface="Bahnschrift SemiBold Condensed" panose="020B0502040204020203" pitchFamily="34" charset="0"/>
              <a:ea typeface="Glacial Indifference"/>
              <a:cs typeface="Calibri" panose="020F0502020204030204" pitchFamily="34" charset="0"/>
              <a:sym typeface="Glacial Indifference"/>
            </a:endParaRPr>
          </a:p>
        </p:txBody>
      </p:sp>
      <p:pic>
        <p:nvPicPr>
          <p:cNvPr id="7" name="Picture 2" descr="كلية العلوم وتكنولوجيا المعلومات – جامعة الزيتونة الأردنية – ادرس بالأردن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" y="9236"/>
            <a:ext cx="549165" cy="55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How Smart Devices Help</a:t>
            </a:r>
            <a:endParaRPr lang="en-US" dirty="0">
              <a:solidFill>
                <a:srgbClr val="FFFFFF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5" name="Freeform: Shap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Smart devices reduce cognitive load through: 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📱 Organized Menus Categories instead of endless lists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🔔 Grouped Notifications Clustered by app or topic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🎨 Visual Cues Icons, colors, and card layouts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Result: Less mental friction and cognitive overload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Freeform: Shap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Box 10"/>
          <p:cNvSpPr txBox="1"/>
          <p:nvPr/>
        </p:nvSpPr>
        <p:spPr>
          <a:xfrm>
            <a:off x="11212944" y="6591567"/>
            <a:ext cx="938205" cy="24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5"/>
              </a:lnSpc>
            </a:pPr>
            <a:r>
              <a:rPr lang="tr-TR" sz="1465" dirty="0">
                <a:solidFill>
                  <a:srgbClr val="E97132"/>
                </a:solidFill>
                <a:latin typeface="Bahnschrift SemiBold Condensed" panose="020B0502040204020203" pitchFamily="34" charset="0"/>
                <a:ea typeface="Glacial Indifference"/>
                <a:cs typeface="Calibri" panose="020F0502020204030204" pitchFamily="34" charset="0"/>
                <a:sym typeface="Glacial Indifference"/>
              </a:rPr>
              <a:t>13 JAN 2026</a:t>
            </a:r>
            <a:endParaRPr lang="en-US" sz="1465" dirty="0">
              <a:solidFill>
                <a:srgbClr val="E97132"/>
              </a:solidFill>
              <a:latin typeface="Bahnschrift SemiBold Condensed" panose="020B0502040204020203" pitchFamily="34" charset="0"/>
              <a:ea typeface="Glacial Indifference"/>
              <a:cs typeface="Calibri" panose="020F0502020204030204" pitchFamily="34" charset="0"/>
              <a:sym typeface="Glacial Indifference"/>
            </a:endParaRPr>
          </a:p>
        </p:txBody>
      </p:sp>
      <p:pic>
        <p:nvPicPr>
          <p:cNvPr id="6" name="Picture 2" descr="كلية العلوم وتكنولوجيا المعلومات – جامعة الزيتونة الأردنية – ادرس بالأردن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" y="9236"/>
            <a:ext cx="549165" cy="55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User Interaction Example</a:t>
            </a:r>
            <a:b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</a:br>
            <a: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Real-World Application</a:t>
            </a:r>
            <a:endParaRPr lang="en-US" dirty="0">
              <a:solidFill>
                <a:srgbClr val="FFFFFF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6" name="Arc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Scenario: 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Checking Notifications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❌ Bad: 3 separate notifications for each message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✅ Good: "3 new messages from WhatsApp"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tr-TR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Scenario: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Finding an App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❌ Bad: Search through text list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✅ Good: Visual folders (Social Media, Productivity)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11212944" y="6591567"/>
            <a:ext cx="938205" cy="24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5"/>
              </a:lnSpc>
            </a:pPr>
            <a:r>
              <a:rPr lang="tr-TR" sz="1465" dirty="0">
                <a:solidFill>
                  <a:srgbClr val="E97132"/>
                </a:solidFill>
                <a:latin typeface="Bahnschrift SemiBold Condensed" panose="020B0502040204020203" pitchFamily="34" charset="0"/>
                <a:ea typeface="Glacial Indifference"/>
                <a:cs typeface="Calibri" panose="020F0502020204030204" pitchFamily="34" charset="0"/>
                <a:sym typeface="Glacial Indifference"/>
              </a:rPr>
              <a:t>13 JAN 2026</a:t>
            </a:r>
            <a:endParaRPr lang="en-US" sz="1465" dirty="0">
              <a:solidFill>
                <a:srgbClr val="E97132"/>
              </a:solidFill>
              <a:latin typeface="Bahnschrift SemiBold Condensed" panose="020B0502040204020203" pitchFamily="34" charset="0"/>
              <a:ea typeface="Glacial Indifference"/>
              <a:cs typeface="Calibri" panose="020F0502020204030204" pitchFamily="34" charset="0"/>
              <a:sym typeface="Glacial Indifference"/>
            </a:endParaRPr>
          </a:p>
        </p:txBody>
      </p:sp>
      <p:pic>
        <p:nvPicPr>
          <p:cNvPr id="6" name="Picture 2" descr="كلية العلوم وتكنولوجيا المعلومات – جامعة الزيتونة الأردنية – ادرس بالأردن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" y="9236"/>
            <a:ext cx="549165" cy="55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27" y="9525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Design Principles </a:t>
            </a:r>
            <a:b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</a:br>
            <a: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Applied Two Key Principles</a:t>
            </a:r>
            <a:endParaRPr lang="en-US" dirty="0">
              <a:solidFill>
                <a:srgbClr val="FFFFFF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0" name="Arc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1. Chunking Grouping information into meaningful units </a:t>
            </a:r>
            <a:endParaRPr 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  Example: "3 WhatsApp messages" instead of 3 separate items </a:t>
            </a:r>
            <a:endParaRPr 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2. Recognition over Recall Using visual cues instead of memory</a:t>
            </a:r>
            <a:endParaRPr 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  Example: Icons and folders vs. remembering app names </a:t>
            </a:r>
            <a:endParaRPr 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Both principles work together to reduce cognitive load</a:t>
            </a:r>
            <a:endParaRPr 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11212944" y="6591567"/>
            <a:ext cx="938205" cy="24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5"/>
              </a:lnSpc>
            </a:pPr>
            <a:r>
              <a:rPr lang="tr-TR" sz="1465" dirty="0">
                <a:solidFill>
                  <a:srgbClr val="E97132"/>
                </a:solidFill>
                <a:latin typeface="Bahnschrift SemiBold Condensed" panose="020B0502040204020203" pitchFamily="34" charset="0"/>
                <a:ea typeface="Glacial Indifference"/>
                <a:cs typeface="Calibri" panose="020F0502020204030204" pitchFamily="34" charset="0"/>
                <a:sym typeface="Glacial Indifference"/>
              </a:rPr>
              <a:t>13 JAN 2026</a:t>
            </a:r>
            <a:endParaRPr lang="en-US" sz="1465" dirty="0">
              <a:solidFill>
                <a:srgbClr val="E97132"/>
              </a:solidFill>
              <a:latin typeface="Bahnschrift SemiBold Condensed" panose="020B0502040204020203" pitchFamily="34" charset="0"/>
              <a:ea typeface="Glacial Indifference"/>
              <a:cs typeface="Calibri" panose="020F0502020204030204" pitchFamily="34" charset="0"/>
              <a:sym typeface="Glacial Indifference"/>
            </a:endParaRPr>
          </a:p>
        </p:txBody>
      </p:sp>
      <p:pic>
        <p:nvPicPr>
          <p:cNvPr id="6" name="Picture 2" descr="كلية العلوم وتكنولوجيا المعلومات – جامعة الزيتونة الأردنية – ادرس بالأردن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" y="9236"/>
            <a:ext cx="549165" cy="55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40410" y="1010920"/>
            <a:ext cx="4787265" cy="4370070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945" y="1113155"/>
            <a:ext cx="4645660" cy="41662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Conceptualization</a:t>
            </a:r>
            <a:b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</a:br>
            <a: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Understanding the Design Process</a:t>
            </a:r>
            <a:endParaRPr lang="en-US" dirty="0">
              <a:solidFill>
                <a:srgbClr val="FFFFFF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5" name="Freeform: Shap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How users behave with smart devices: 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- Distracted and multitasking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- Limited memory capacity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design helps by: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- Grouping notifications together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- Using folders with icons for apps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- Making things visual instead of text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Based on Miller's Law: People can only remember about 7 things at once . So the design makes everything simple and easy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Freeform: Shap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Box 10"/>
          <p:cNvSpPr txBox="1"/>
          <p:nvPr/>
        </p:nvSpPr>
        <p:spPr>
          <a:xfrm>
            <a:off x="11212944" y="6591567"/>
            <a:ext cx="938205" cy="24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5"/>
              </a:lnSpc>
            </a:pPr>
            <a:r>
              <a:rPr lang="tr-TR" sz="1465" dirty="0">
                <a:solidFill>
                  <a:srgbClr val="E97132"/>
                </a:solidFill>
                <a:latin typeface="Bahnschrift SemiBold Condensed" panose="020B0502040204020203" pitchFamily="34" charset="0"/>
                <a:ea typeface="Glacial Indifference"/>
                <a:cs typeface="Calibri" panose="020F0502020204030204" pitchFamily="34" charset="0"/>
                <a:sym typeface="Glacial Indifference"/>
              </a:rPr>
              <a:t>13 JAN 2026</a:t>
            </a:r>
            <a:endParaRPr lang="en-US" sz="1465" dirty="0">
              <a:solidFill>
                <a:srgbClr val="E97132"/>
              </a:solidFill>
              <a:latin typeface="Bahnschrift SemiBold Condensed" panose="020B0502040204020203" pitchFamily="34" charset="0"/>
              <a:ea typeface="Glacial Indifference"/>
              <a:cs typeface="Calibri" panose="020F0502020204030204" pitchFamily="34" charset="0"/>
              <a:sym typeface="Glacial Indifference"/>
            </a:endParaRPr>
          </a:p>
        </p:txBody>
      </p:sp>
      <p:pic>
        <p:nvPicPr>
          <p:cNvPr id="6" name="Picture 2" descr="كلية العلوم وتكنولوجيا المعلومات – جامعة الزيتونة الأردنية – ادرس بالأردن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" y="9236"/>
            <a:ext cx="549165" cy="55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Cognitive Benefits </a:t>
            </a:r>
            <a:b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</a:br>
            <a:r>
              <a:rPr lang="en-US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Why This Design Works</a:t>
            </a:r>
            <a:endParaRPr lang="en-US" dirty="0">
              <a:solidFill>
                <a:srgbClr val="FFFFFF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4" name="Arc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Chunking helps: </a:t>
            </a:r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Groups information together 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Stays within 7±2 memory limit 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Faster to understand 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Visual Recognition helps: </a:t>
            </a:r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Easier to recognize icons than remember names 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Less mental effort 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Less stress when choosing 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Result: </a:t>
            </a:r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Easier to use, Faster to complete tasks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11212944" y="6591567"/>
            <a:ext cx="938205" cy="24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5"/>
              </a:lnSpc>
            </a:pPr>
            <a:r>
              <a:rPr lang="tr-TR" sz="1465" dirty="0">
                <a:solidFill>
                  <a:srgbClr val="E97132"/>
                </a:solidFill>
                <a:latin typeface="Bahnschrift SemiBold Condensed" panose="020B0502040204020203" pitchFamily="34" charset="0"/>
                <a:ea typeface="Glacial Indifference"/>
                <a:cs typeface="Calibri" panose="020F0502020204030204" pitchFamily="34" charset="0"/>
                <a:sym typeface="Glacial Indifference"/>
              </a:rPr>
              <a:t>13 JAN 2026</a:t>
            </a:r>
            <a:endParaRPr lang="en-US" sz="1465" dirty="0">
              <a:solidFill>
                <a:srgbClr val="E97132"/>
              </a:solidFill>
              <a:latin typeface="Bahnschrift SemiBold Condensed" panose="020B0502040204020203" pitchFamily="34" charset="0"/>
              <a:ea typeface="Glacial Indifference"/>
              <a:cs typeface="Calibri" panose="020F0502020204030204" pitchFamily="34" charset="0"/>
              <a:sym typeface="Glacial Indifference"/>
            </a:endParaRPr>
          </a:p>
        </p:txBody>
      </p:sp>
      <p:pic>
        <p:nvPicPr>
          <p:cNvPr id="6" name="Picture 2" descr="كلية العلوم وتكنولوجيا المعلومات – جامعة الزيتونة الأردنية – ادرس بالأردن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" y="9236"/>
            <a:ext cx="549165" cy="55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7303" y="3770081"/>
            <a:ext cx="5561938" cy="111307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Bahnschrift SemiBold Condensed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Limited Working Memory Capacity </a:t>
            </a:r>
            <a:br>
              <a:rPr lang="en-US" sz="2400" dirty="0">
                <a:latin typeface="Bahnschrift SemiBold Condensed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2400" dirty="0">
              <a:latin typeface="Bahnschrift SemiBold Condensed" panose="020B0502040204020203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0018" y="4967939"/>
            <a:ext cx="5561938" cy="1534587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hnschrift SemiBold Condensed" panose="020B0502040204020203" pitchFamily="34" charset="0"/>
              </a:rPr>
              <a:t>Student: </a:t>
            </a:r>
            <a:endParaRPr lang="tr-TR" dirty="0">
              <a:latin typeface="Bahnschrift SemiBold Condensed" panose="020B0502040204020203" pitchFamily="34" charset="0"/>
            </a:endParaRPr>
          </a:p>
          <a:p>
            <a:r>
              <a:rPr lang="en-GB" b="1" dirty="0">
                <a:latin typeface="Bahnschrift SemiBold Condensed" panose="020B0502040204020203" pitchFamily="34" charset="0"/>
              </a:rPr>
              <a:t>Nour </a:t>
            </a:r>
            <a:r>
              <a:rPr lang="en-GB" b="1" dirty="0" err="1">
                <a:latin typeface="Bahnschrift SemiBold Condensed" panose="020B0502040204020203" pitchFamily="34" charset="0"/>
              </a:rPr>
              <a:t>Elddin</a:t>
            </a:r>
            <a:r>
              <a:rPr lang="en-GB" b="1" dirty="0">
                <a:latin typeface="Bahnschrift SemiBold Condensed" panose="020B0502040204020203" pitchFamily="34" charset="0"/>
              </a:rPr>
              <a:t> Naser Mahmoud Jaradat</a:t>
            </a:r>
            <a:endParaRPr lang="tr-TR" b="1" dirty="0">
              <a:latin typeface="Bahnschrift SemiBold Condensed" panose="020B0502040204020203" pitchFamily="34" charset="0"/>
            </a:endParaRPr>
          </a:p>
          <a:p>
            <a:r>
              <a:rPr lang="en-US" dirty="0">
                <a:latin typeface="Bahnschrift SemiBold Condensed" panose="020B0502040204020203" pitchFamily="34" charset="0"/>
              </a:rPr>
              <a:t>ID : </a:t>
            </a:r>
            <a:endParaRPr lang="tr-TR" dirty="0">
              <a:latin typeface="Bahnschrift SemiBold Condensed" panose="020B0502040204020203" pitchFamily="34" charset="0"/>
            </a:endParaRPr>
          </a:p>
          <a:p>
            <a:r>
              <a:rPr lang="en-US" dirty="0">
                <a:latin typeface="Bahnschrift SemiBold Condensed" panose="020B0502040204020203" pitchFamily="34" charset="0"/>
              </a:rPr>
              <a:t>202312575</a:t>
            </a:r>
            <a:endParaRPr lang="en-US" dirty="0">
              <a:latin typeface="Bahnschrift SemiBold Condensed" panose="020B0502040204020203" pitchFamily="34" charset="0"/>
            </a:endParaRPr>
          </a:p>
        </p:txBody>
      </p:sp>
      <p:sp>
        <p:nvSpPr>
          <p:cNvPr id="50" name="Arc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10"/>
          <p:cNvSpPr txBox="1"/>
          <p:nvPr/>
        </p:nvSpPr>
        <p:spPr>
          <a:xfrm>
            <a:off x="4851400" y="6285832"/>
            <a:ext cx="2489200" cy="24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5"/>
              </a:lnSpc>
            </a:pPr>
            <a:r>
              <a:rPr lang="tr-TR" sz="1465" dirty="0">
                <a:solidFill>
                  <a:srgbClr val="E97132"/>
                </a:solidFill>
                <a:latin typeface="Bahnschrift SemiBold Condensed" panose="020B0502040204020203" pitchFamily="34" charset="0"/>
                <a:ea typeface="Glacial Indifference"/>
                <a:cs typeface="Calibri" panose="020F0502020204030204" pitchFamily="34" charset="0"/>
                <a:sym typeface="Glacial Indifference"/>
              </a:rPr>
              <a:t>13 JAN 2026</a:t>
            </a:r>
            <a:endParaRPr lang="en-US" sz="1465" dirty="0">
              <a:solidFill>
                <a:srgbClr val="E97132"/>
              </a:solidFill>
              <a:latin typeface="Bahnschrift SemiBold Condensed" panose="020B0502040204020203" pitchFamily="34" charset="0"/>
              <a:ea typeface="Glacial Indifference"/>
              <a:cs typeface="Calibri" panose="020F0502020204030204" pitchFamily="34" charset="0"/>
              <a:sym typeface="Glacial Indifference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3330018" y="2857895"/>
            <a:ext cx="5561938" cy="1113072"/>
          </a:xfrm>
          <a:prstGeom prst="rect">
            <a:avLst/>
          </a:prstGeom>
          <a:effectLst>
            <a:outerShdw blurRad="50800" dist="50800" dir="5400000" algn="ctr" rotWithShape="0">
              <a:srgbClr val="1A9CCD"/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11500" dirty="0">
                <a:solidFill>
                  <a:srgbClr val="E97132"/>
                </a:solidFill>
                <a:latin typeface="Bahnschrift SemiBold Condensed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YOU!</a:t>
            </a:r>
            <a:endParaRPr lang="en-US" sz="11500" dirty="0">
              <a:solidFill>
                <a:srgbClr val="E97132"/>
              </a:solidFill>
              <a:latin typeface="Bahnschrift SemiBold Condensed" panose="020B0502040204020203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Box 10"/>
          <p:cNvSpPr txBox="1"/>
          <p:nvPr/>
        </p:nvSpPr>
        <p:spPr>
          <a:xfrm>
            <a:off x="3650672" y="1381295"/>
            <a:ext cx="4775200" cy="244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55"/>
              </a:lnSpc>
            </a:pPr>
            <a:r>
              <a:rPr lang="en-US" sz="1600" dirty="0">
                <a:solidFill>
                  <a:srgbClr val="E97132"/>
                </a:solidFill>
                <a:latin typeface="Bahnschrift SemiBold Condensed" panose="020B0502040204020203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Human Computer Interaction (HCI) Project</a:t>
            </a:r>
            <a:endParaRPr lang="en-US" sz="1465" dirty="0">
              <a:solidFill>
                <a:srgbClr val="233968"/>
              </a:solidFill>
              <a:latin typeface="Bahnschrift SemiBold Condensed" panose="020B0502040204020203" pitchFamily="34" charset="0"/>
              <a:ea typeface="Glacial Indifference"/>
              <a:cs typeface="Calibri" panose="020F0502020204030204" pitchFamily="34" charset="0"/>
              <a:sym typeface="Glacial Indifference"/>
            </a:endParaRPr>
          </a:p>
        </p:txBody>
      </p:sp>
      <p:pic>
        <p:nvPicPr>
          <p:cNvPr id="9" name="Picture 2" descr="كلية العلوم وتكنولوجيا المعلومات – جامعة الزيتونة الأردنية – ادرس بالأردن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962" y="148929"/>
            <a:ext cx="1036621" cy="1043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2181</Words>
  <Application>WPS Presentation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SimSun</vt:lpstr>
      <vt:lpstr>Wingdings</vt:lpstr>
      <vt:lpstr>Bahnschrift SemiBold Condensed</vt:lpstr>
      <vt:lpstr>ADLaM Display</vt:lpstr>
      <vt:lpstr>Wide Latin</vt:lpstr>
      <vt:lpstr>Glacial Indifference</vt:lpstr>
      <vt:lpstr>Calibri</vt:lpstr>
      <vt:lpstr>Calibri</vt:lpstr>
      <vt:lpstr>SWAstro</vt:lpstr>
      <vt:lpstr>Aptos</vt:lpstr>
      <vt:lpstr>Segoe UI</vt:lpstr>
      <vt:lpstr>Microsoft YaHei</vt:lpstr>
      <vt:lpstr>Arial Unicode MS</vt:lpstr>
      <vt:lpstr>Aptos Display</vt:lpstr>
      <vt:lpstr>Segoe UI Variable Display</vt:lpstr>
      <vt:lpstr>Office Theme</vt:lpstr>
      <vt:lpstr>Limited Working Memory Capacity </vt:lpstr>
      <vt:lpstr>Human Characteristic  Limited Working Memory</vt:lpstr>
      <vt:lpstr>How Smart Devices Help</vt:lpstr>
      <vt:lpstr>User Interaction Example Real-World Application</vt:lpstr>
      <vt:lpstr>Design Principles  Applied Two Key Principles</vt:lpstr>
      <vt:lpstr>Conceptualization Understanding the Design Process</vt:lpstr>
      <vt:lpstr>Cognitive Benefits  Why This Design Works</vt:lpstr>
      <vt:lpstr>Limited Working Memory Capacity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OBADA NASER MAHMOUD JARADAT</dc:creator>
  <cp:lastModifiedBy>forzen</cp:lastModifiedBy>
  <cp:revision>8</cp:revision>
  <dcterms:created xsi:type="dcterms:W3CDTF">2026-01-12T09:01:00Z</dcterms:created>
  <dcterms:modified xsi:type="dcterms:W3CDTF">2026-01-17T11:38:43Z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7A9D1D9CA2C747CAB53DADD6BE4B1C3F_12</vt:lpwstr>
  </property>
  <property fmtid="{D5CDD505-2E9C-101B-9397-08002B2CF9AE}" pid="3" name="KSOProductBuildVer">
    <vt:lpwstr>1033-12.2.0.23196</vt:lpwstr>
  </property>
</Properties>
</file>